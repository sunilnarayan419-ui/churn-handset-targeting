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82296" cy="210312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583680" cy="2377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Keep the customers most likely to leave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9D3E0"/>
                </a:solidFill>
                <a:latin typeface="Arial"/>
              </a:rPr>
              <a:t>A low-cost, handset-age-targeted retention test for Company A, proven in a pilot before any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65836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3E0"/>
                </a:solidFill>
                <a:latin typeface="Arial"/>
              </a:rPr>
              <a:t>GCI World 2026 Final Assignment: Data Science and Business Consulting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SunilMandloi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914400"/>
            <a:ext cx="3657600" cy="1554480"/>
          </a:xfrm>
          <a:prstGeom prst="rect">
            <a:avLst/>
          </a:prstGeom>
          <a:solidFill>
            <a:srgbClr val="24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024128"/>
            <a:ext cx="3383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2B36B"/>
                </a:solidFill>
                <a:latin typeface="Arial"/>
              </a:rPr>
              <a:t>39.5% → 59.3%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55648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E0"/>
                </a:solidFill>
                <a:latin typeface="Arial"/>
              </a:rPr>
              <a:t>churn rate before vs after a handset passes 300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697480"/>
            <a:ext cx="3657600" cy="1554480"/>
          </a:xfrm>
          <a:prstGeom prst="rect">
            <a:avLst/>
          </a:prstGeom>
          <a:solidFill>
            <a:srgbClr val="24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807208"/>
            <a:ext cx="3383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2B36B"/>
                </a:solidFill>
                <a:latin typeface="Arial"/>
              </a:rPr>
              <a:t>0.693 vs 0.500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538728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E0"/>
                </a:solidFill>
                <a:latin typeface="Arial"/>
              </a:rPr>
              <a:t>model ROC-AUC vs no-skill baseline (test set)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4480560"/>
            <a:ext cx="3657600" cy="1554480"/>
          </a:xfrm>
          <a:prstGeom prst="rect">
            <a:avLst/>
          </a:prstGeom>
          <a:solidFill>
            <a:srgbClr val="24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590288"/>
            <a:ext cx="3383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2B36B"/>
                </a:solidFill>
                <a:latin typeface="Arial"/>
              </a:rPr>
              <a:t>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321808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E0"/>
                </a:solidFill>
                <a:latin typeface="Arial"/>
              </a:rPr>
              <a:t>of would-be churners the nudge must save to break even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Executive summary: a cheap, targeted nudge is worth testing, but it only pays above a break-even save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 External churn: references [1]-[3].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440680" cy="2240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82296" cy="22402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5074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41"/>
                </a:solidFill>
                <a:latin typeface="Arial"/>
              </a:rPr>
              <a:t>US postpaid carriers lose about 0.9-1.0% of customers every month [1-3], roughly 11% a year.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1"/>
                </a:solidFill>
                <a:latin typeface="Arial"/>
              </a:rPr>
              <a:t>Company A needs to decide whom to contact before they leave, and how much each contact may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40680" cy="2240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82296" cy="22402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5074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Arial"/>
              </a:rPr>
              <a:t>Handset age is the clearest warning sign: </a:t>
            </a:r>
            <a:r>
              <a:rPr sz="1300" b="0">
                <a:solidFill>
                  <a:srgbClr val="1B2A41"/>
                </a:solidFill>
                <a:latin typeface="Arial"/>
              </a:rPr>
              <a:t>churn is 39.5% up to 300 days and 59.3% from 301 to 400 days.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1"/>
                </a:solidFill>
                <a:latin typeface="Arial"/>
              </a:rPr>
              <a:t>A gradient-boosting model ranks risk with ROC-AUC 0.693 (no-skill = 0.500). At a realistic 1% base rate, its top 5% are 5.3x as likely to churn as average.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904487"/>
            <a:ext cx="5440680" cy="2240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904487"/>
            <a:ext cx="82296" cy="224028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95927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822B"/>
                </a:solidFill>
                <a:latin typeface="Arial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79975"/>
            <a:ext cx="5074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1"/>
                </a:solidFill>
                <a:latin typeface="Arial"/>
              </a:rPr>
              <a:t>Score customers monthly, then contact the top ~5% with a handset-upgrade or plan-review message costing about $0.75 or less.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1"/>
                </a:solidFill>
                <a:latin typeface="Arial"/>
              </a:rPr>
              <a:t>Hold back a random half of the list so the true effect can be measured.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04487"/>
            <a:ext cx="5440680" cy="2240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04487"/>
            <a:ext cx="82296" cy="224028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95927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822B"/>
                </a:solidFill>
                <a:latin typeface="Arial"/>
              </a:rPr>
              <a:t>IMPACT (CONDITIONAL)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79975"/>
            <a:ext cx="5074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1"/>
                </a:solidFill>
                <a:latin typeface="Arial"/>
              </a:rPr>
              <a:t>Break-even needs the nudge to save 6.4% of would-be churners. Base case is just below break-even before fixed costs; a $20 credit would need 32%.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Arial"/>
              </a:rPr>
              <a:t>Decision: </a:t>
            </a:r>
            <a:r>
              <a:rPr sz="1300" b="0">
                <a:solidFill>
                  <a:srgbClr val="1B2A41"/>
                </a:solidFill>
                <a:latin typeface="Arial"/>
              </a:rPr>
              <a:t>approve a capped pilot (about $4,815 of contact cost), not a rollout.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US carriers lose about 1% of customers a month, so a retention model has to work at a very low base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Sources: [1] T-Mobile Q2 2026 release (account churn); [2] Verizon Q2 2026 call (overall churn 0.92% as reported; consumer postpaid phone 0.84%); [3] AT&amp;T Q2 2026 results as reported. Definitions differ across carriers.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3</a:t>
            </a:r>
          </a:p>
        </p:txBody>
      </p:sp>
      <p:pic>
        <p:nvPicPr>
          <p:cNvPr id="6" name="Picture 5" descr="fig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760720" cy="33449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983480"/>
            <a:ext cx="5760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85"/>
                </a:solidFill>
                <a:latin typeface="Arial"/>
              </a:rPr>
              <a:t>Churn rates are reported on different bases (accounts vs phone lines), so they are an order-of-magnitude anchor, not a like-for-like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502920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7B8A"/>
                </a:solidFill>
                <a:latin typeface="Arial"/>
              </a:rPr>
              <a:t>Retention is a growth lever.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300" b="0">
                <a:solidFill>
                  <a:srgbClr val="1B2A41"/>
                </a:solidFill>
                <a:latin typeface="Arial"/>
              </a:rPr>
              <a:t>Verizon says lower churn is its path to growing the customer base [2]; T-Mobile reports churn every quarter alongside ARPA [1].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F7B8A"/>
                </a:solidFill>
                <a:latin typeface="Arial"/>
              </a:rPr>
              <a:t>The compounding is large.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300" b="0">
                <a:solidFill>
                  <a:srgbClr val="1B2A41"/>
                </a:solidFill>
                <a:latin typeface="Arial"/>
              </a:rPr>
              <a:t>At 0.99% a month, about 11.3% of customers leave within a year (author calculation, assuming a constant rate).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F7B8A"/>
                </a:solidFill>
                <a:latin typeface="Arial"/>
              </a:rPr>
              <a:t>Implication for this project.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300" b="0">
                <a:solidFill>
                  <a:srgbClr val="1B2A41"/>
                </a:solidFill>
                <a:latin typeface="Arial"/>
              </a:rPr>
              <a:t>Company A's file shows 49.6% churn, far above the market, so it is enriched with churners. Rankings carry over; precision and counts must be rescaled to about 1%, which this deck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The data is clean and joins one-to-one, but it is enriched with churners and has no 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6675119" cy="42428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18210"/>
                <a:gridCol w="5056909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What we found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Files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Client.csv 100,000 x 50; Record.csv 100,000 x 51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Join on Customer_ID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1:1; no missing or duplicate IDs; 0 unmatched; merged 100,000 x 100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churn = left 31-60 days after the observation date (binary)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Class balance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49.6% churned vs about 1% per month at US carriers [1-3]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Missing values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43 of 100 columns; highest in household fields (up to 49%)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Model inputs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97 features; Customer_ID and ethnic excluded (fairness)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Limits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No timestamps (no time-based test); currency not stated (USD assumed); regions anonymised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554480"/>
            <a:ext cx="4297680" cy="2406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4069080"/>
            <a:ext cx="42976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B8A"/>
                </a:solidFill>
                <a:latin typeface="Arial"/>
              </a:rPr>
              <a:t>Why it matters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Missing demographics are imputed inside the model pipeline, with a flag so missingness can carry signal.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No single feature is suspiciously strong (best single-variable AUC 0.574), so we found no sign of target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Churn retention is the only direction with a labelled outcome, enough data and a clear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Ratings are the author's assessment after inspecting the files (H = high, M = medium, L = low). Selected option highlighted.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38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58720"/>
                <a:gridCol w="1229360"/>
                <a:gridCol w="1311317"/>
                <a:gridCol w="1393274"/>
                <a:gridCol w="1229360"/>
                <a:gridCol w="1311317"/>
                <a:gridCol w="213089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Candidate problem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Business value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 suitability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Model feasibility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Actionability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 quality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Churn retention targeting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M-H</a:t>
                      </a:r>
                    </a:p>
                  </a:txBody>
                  <a:tcPr marL="54864" marR="54864" marT="22860" marB="22860" anchor="ctr">
                    <a:solidFill>
                      <a:srgbClr val="DDEB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Customer value segmentation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No outcome to validate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Usage decline / engagement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L-M</a:t>
                      </a:r>
                    </a:p>
                  </a:txBody>
                  <a:tcPr marL="54864" marR="54864" marT="22860" marB="22860" anchor="ctr">
                    <a:solidFill>
                      <a:srgbClr val="F6D8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2860" marB="22860" anchor="ctr">
                    <a:solidFill>
                      <a:srgbClr val="FB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Only 3-6 month averages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Customer-service burden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L-M</a:t>
                      </a:r>
                    </a:p>
                  </a:txBody>
                  <a:tcPr marL="54864" marR="54864" marT="22860" marB="22860" anchor="ctr">
                    <a:solidFill>
                      <a:srgbClr val="F6D8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No cost or outcome data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572000"/>
            <a:ext cx="11064240" cy="1600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82296" cy="160020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45152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D9822B"/>
                </a:solidFill>
                <a:latin typeface="Arial"/>
              </a:rPr>
              <a:t>Business problem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Arial"/>
              </a:rPr>
              <a:t>Which customers should Company A contact before they leave, and how much can it afford to spend on each contact?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Task: binary classification of the supplied churn label. We show an association, not a cause: whether contacting a customer reduces churn is unknown until a controlled test measures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Churn jumps about 20 points once a handset passes 300 days, and it happens at every tenure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 Bars: churn rate with 95% confidence interval. Association, not proof of cause.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fig_eqp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3029109"/>
          </a:xfrm>
          <a:prstGeom prst="rect">
            <a:avLst/>
          </a:prstGeom>
        </p:spPr>
      </p:pic>
      <p:pic>
        <p:nvPicPr>
          <p:cNvPr id="7" name="Picture 6" descr="fig_eq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5212080" cy="28014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72000"/>
            <a:ext cx="5852160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What it shows. </a:t>
            </a:r>
            <a:r>
              <a:rPr sz="1200" b="0">
                <a:solidFill>
                  <a:srgbClr val="1B2A41"/>
                </a:solidFill>
                <a:latin typeface="Arial"/>
              </a:rPr>
              <a:t>Churn is 39.5% for handsets up to 300 days old (n = 40,088) and 59.3% for 301-400 days (n = 20,866); p &lt; 0.001.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Why it matters. </a:t>
            </a:r>
            <a:r>
              <a:rPr sz="1200" b="0">
                <a:solidFill>
                  <a:srgbClr val="1B2A41"/>
                </a:solidFill>
                <a:latin typeface="Arial"/>
              </a:rPr>
              <a:t>A fixed date to act on: contact customers as they approach 300 days, before the jump.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But not enough alone. </a:t>
            </a:r>
            <a:r>
              <a:rPr sz="1200" b="0">
                <a:solidFill>
                  <a:srgbClr val="1B2A41"/>
                </a:solidFill>
                <a:latin typeface="Arial"/>
              </a:rPr>
              <a:t>That group is 20.9% of customers yet holds only 25.0% of churners.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572000"/>
            <a:ext cx="5120640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Robustness. </a:t>
            </a:r>
            <a:r>
              <a:rPr sz="1200" b="0">
                <a:solidFill>
                  <a:srgbClr val="1B2A41"/>
                </a:solidFill>
                <a:latin typeface="Arial"/>
              </a:rPr>
              <a:t>Within every tenure group the step is there: 37% to 63% (up to 12 months), 46% to 56% (13-24), 36% to 48% (over 24).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What matters less. </a:t>
            </a:r>
            <a:r>
              <a:rPr sz="1200" b="0">
                <a:solidFill>
                  <a:srgbClr val="1B2A41"/>
                </a:solidFill>
                <a:latin typeface="Arial"/>
              </a:rPr>
              <a:t>Revenue, usage trend and care calls move churn by at most about 8 points across their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We tested four models on a held-back 20% of customers, choosing the winner before looking at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 Full protocol in notebook sections 6-10.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6857999" cy="46085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5373"/>
                <a:gridCol w="5322626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Design choice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What we did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churn (1 = left within 31-60 days)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97 usage, billing, handset and demographic fields (ethnic excluded)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80% train / 20% untouched test, stratified, seed 42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Tuning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3-fold cross-validation on the training data only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No leakage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Imputing and scaling are fitted on training folds only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Models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Dummy baseline; logistic regression; random forest; gradient boosting (scikit-learn)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Main metric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ROC-AUC (ranking quality), plus PR-AUC, precision, recall, F1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Probabilities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Calibrated, then rescaled to a 1% monthly base rate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0" y="1508760"/>
            <a:ext cx="4023360" cy="4617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508760"/>
            <a:ext cx="82296" cy="46177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7033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B8A"/>
                </a:solidFill>
                <a:latin typeface="Arial"/>
              </a:rPr>
              <a:t>In plain language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B2A41"/>
                </a:solidFill>
                <a:latin typeface="Arial"/>
              </a:rPr>
              <a:t>ROC-AUC: </a:t>
            </a:r>
            <a:r>
              <a:rPr sz="1300" b="0">
                <a:solidFill>
                  <a:srgbClr val="1B2A41"/>
                </a:solidFill>
                <a:latin typeface="Arial"/>
              </a:rPr>
              <a:t>the chance that a randomly chosen churner is ranked above a randomly chosen loyal customer. 0.5 is a coin flip; 1.0 is perfect.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B2A41"/>
                </a:solidFill>
                <a:latin typeface="Arial"/>
              </a:rPr>
              <a:t>Gradient boosting: </a:t>
            </a:r>
            <a:r>
              <a:rPr sz="1300" b="0">
                <a:solidFill>
                  <a:srgbClr val="1B2A41"/>
                </a:solidFill>
                <a:latin typeface="Arial"/>
              </a:rPr>
              <a:t>many small decision trees built one after another, each correcting the last. It can learn a step such as the 300-day jump.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B2A41"/>
                </a:solidFill>
                <a:latin typeface="Arial"/>
              </a:rPr>
              <a:t>Calibration: </a:t>
            </a:r>
            <a:r>
              <a:rPr sz="1300" b="0">
                <a:solidFill>
                  <a:srgbClr val="1B2A41"/>
                </a:solidFill>
                <a:latin typeface="Arial"/>
              </a:rPr>
              <a:t>turning scores into honest probabilities, so a 5% score means about 5%.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Arial"/>
              </a:rPr>
              <a:t>Hold-out test: </a:t>
            </a:r>
            <a:r>
              <a:rPr sz="1200" b="0">
                <a:solidFill>
                  <a:srgbClr val="1B2A41"/>
                </a:solidFill>
                <a:latin typeface="Arial"/>
              </a:rPr>
              <a:t>customers the model never saw, so the scores are not flattering.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Gradient boosting ranks churn risk well above chance: ROC-AUC 0.693 against 0.500 for the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 Test set = 20,000 customers; accuracy is shown with caution because the file is almost 50/50.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766556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0673"/>
                <a:gridCol w="712269"/>
                <a:gridCol w="747882"/>
                <a:gridCol w="712269"/>
                <a:gridCol w="854723"/>
                <a:gridCol w="854723"/>
                <a:gridCol w="605429"/>
                <a:gridCol w="49858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CV ROC-AUC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Test ROC-AUC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Test PR-AUC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B2A41"/>
                          </a:solidFill>
                          <a:latin typeface="Arial"/>
                        </a:rPr>
                        <a:t>Dummy (prior)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0.496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0.504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B2A41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0.641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0.644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0.630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0.607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0.609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0.580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0.594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B2A4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0.673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0.675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0.658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0.623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0.614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0.645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0.629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B2A41"/>
                          </a:solidFill>
                          <a:latin typeface="Arial"/>
                        </a:rPr>
                        <a:t>Gradient boosting (selected)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0.689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0.693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0.681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0.636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0.630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0.645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41"/>
                          </a:solidFill>
                          <a:latin typeface="Arial"/>
                        </a:rPr>
                        <a:t>0.638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8620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Selected: gradient boosting. </a:t>
            </a:r>
            <a:r>
              <a:rPr sz="1200" b="0">
                <a:solidFill>
                  <a:srgbClr val="1B2A41"/>
                </a:solidFill>
                <a:latin typeface="Arial"/>
              </a:rPr>
              <a:t>Test ROC-AUC 0.693 (95% bootstrap interval 0.687-0.701) vs 0.500 for the baseline; PR-AUC 0.681.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Honest reading. </a:t>
            </a:r>
            <a:r>
              <a:rPr sz="1200" b="0">
                <a:solidFill>
                  <a:srgbClr val="1B2A41"/>
                </a:solidFill>
                <a:latin typeface="Arial"/>
              </a:rPr>
              <a:t>Churn is moderately predictable, not predictable person by person. The value is in ranking: it tells us whom to contact first.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Accuracy of 63.6% is not the headline. </a:t>
            </a:r>
            <a:r>
              <a:rPr sz="1200" b="0">
                <a:solidFill>
                  <a:srgbClr val="1B2A41"/>
                </a:solidFill>
                <a:latin typeface="Arial"/>
              </a:rPr>
              <a:t>A 50/50 file makes accuracy a weak guide to how the model works at about 1% real churn.</a:t>
            </a:r>
          </a:p>
        </p:txBody>
      </p:sp>
      <p:pic>
        <p:nvPicPr>
          <p:cNvPr id="8" name="Picture 7" descr="fig_dec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17320"/>
            <a:ext cx="4206240" cy="24351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4114800"/>
            <a:ext cx="425196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Top 10% of customers by predicted risk: </a:t>
            </a:r>
            <a:r>
              <a:rPr sz="1200" b="0">
                <a:solidFill>
                  <a:srgbClr val="1B2A41"/>
                </a:solidFill>
                <a:latin typeface="Arial"/>
              </a:rPr>
              <a:t>78% actually churned. Bottom 10%: 20%.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Ranking quality is similar across areas (AUC 0.64-0.73) but stronger for first-year customers (about 0.75) than for 13-24 month customers (about 0.65).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Tenure and handset age drive the model, and it beats a simple handset-age rule, but most contacts would have stayed anyway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 Importance = drop in test ROC-AUC when a variable is shuffled (predictive, not causal). 1% base rate = assumption anchored on [1]-[3].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760720" cy="37366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56692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85"/>
                </a:solidFill>
                <a:latin typeface="Arial"/>
              </a:rPr>
              <a:t>Tenure (months) and handset age (eqpdays) lead, followed by the change in minutes of use and total minutes. Only the first two are things Company A can plan an offer around. Predictive importance does not mean changing a variable changes behaviour.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508760"/>
          <a:ext cx="5212078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44805"/>
                <a:gridCol w="1011299"/>
                <a:gridCol w="1244675"/>
                <a:gridCol w="101129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Contact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Churn rate in file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Precision at 1% base rate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Lift at 1% base rate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Model: top 5%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84.6%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5.3%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5.3x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Model: top 10%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78.3%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3.6%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3.6x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Model: top 20%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73.3%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2.7%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Rule: handset 301-400 days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59.8%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4160520"/>
            <a:ext cx="5212080" cy="2148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So what. </a:t>
            </a:r>
            <a:r>
              <a:rPr sz="1200" b="0">
                <a:solidFill>
                  <a:srgbClr val="1B2A41"/>
                </a:solidFill>
                <a:latin typeface="Arial"/>
              </a:rPr>
              <a:t>At a realistic base rate, about 95% of the top-5% contacts would have stayed anyway.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The model adds real value over the rule: </a:t>
            </a:r>
            <a:r>
              <a:rPr sz="1200" b="0">
                <a:solidFill>
                  <a:srgbClr val="1B2A41"/>
                </a:solidFill>
                <a:latin typeface="Arial"/>
              </a:rPr>
              <a:t>5.3x lift for the top 5% vs 1.5x for the handset-age rule.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Therefore </a:t>
            </a:r>
            <a:r>
              <a:rPr sz="1200" b="0">
                <a:solidFill>
                  <a:srgbClr val="1B2A41"/>
                </a:solidFill>
                <a:latin typeface="Arial"/>
              </a:rPr>
              <a:t>each contact must be cheap, and its effect must be measured, not assumed.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Proposed solution: a monthly risk list, a cheap nudge, and a hold-out group that proves whether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Conceptual workflow; PoC uses existing CRM and campaign tools plus one scheduled scoring job. No new platform is needed to test the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10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08760"/>
            <a:ext cx="2194560" cy="685800"/>
          </a:xfrm>
          <a:prstGeom prst="homePlat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 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103120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331720"/>
            <a:ext cx="1965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Billing, usage and handset age already held in Company A systems</a:t>
            </a:r>
          </a:p>
        </p:txBody>
      </p:sp>
      <p:sp>
        <p:nvSpPr>
          <p:cNvPr id="9" name="Pentagon 8"/>
          <p:cNvSpPr/>
          <p:nvPr/>
        </p:nvSpPr>
        <p:spPr>
          <a:xfrm>
            <a:off x="2788920" y="1508760"/>
            <a:ext cx="2194560" cy="685800"/>
          </a:xfrm>
          <a:prstGeom prst="homePlat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  Risk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286000"/>
            <a:ext cx="2103120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2331720"/>
            <a:ext cx="1965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Model scores every customer monthly (probability of leaving in 31-60 days)</a:t>
            </a:r>
          </a:p>
        </p:txBody>
      </p:sp>
      <p:sp>
        <p:nvSpPr>
          <p:cNvPr id="12" name="Pentagon 11"/>
          <p:cNvSpPr/>
          <p:nvPr/>
        </p:nvSpPr>
        <p:spPr>
          <a:xfrm>
            <a:off x="5029200" y="1508760"/>
            <a:ext cx="2194560" cy="685800"/>
          </a:xfrm>
          <a:prstGeom prst="homePlat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  Target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286000"/>
            <a:ext cx="2103120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331720"/>
            <a:ext cx="1965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Top ~5% by risk; half are randomly held back (no contact)</a:t>
            </a:r>
          </a:p>
        </p:txBody>
      </p:sp>
      <p:sp>
        <p:nvSpPr>
          <p:cNvPr id="15" name="Pentagon 14"/>
          <p:cNvSpPr/>
          <p:nvPr/>
        </p:nvSpPr>
        <p:spPr>
          <a:xfrm>
            <a:off x="7269480" y="1508760"/>
            <a:ext cx="2194560" cy="685800"/>
          </a:xfrm>
          <a:prstGeom prst="homePlat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  Nudge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286000"/>
            <a:ext cx="2103120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2331720"/>
            <a:ext cx="1965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SMS, app or email: handset-upgrade eligibility, plan review (about $0.75 or less)</a:t>
            </a:r>
          </a:p>
        </p:txBody>
      </p:sp>
      <p:sp>
        <p:nvSpPr>
          <p:cNvPr id="18" name="Pentagon 17"/>
          <p:cNvSpPr/>
          <p:nvPr/>
        </p:nvSpPr>
        <p:spPr>
          <a:xfrm>
            <a:off x="9509760" y="1508760"/>
            <a:ext cx="2194560" cy="685800"/>
          </a:xfrm>
          <a:prstGeom prst="homePlat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  Measure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286000"/>
            <a:ext cx="2103120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2331720"/>
            <a:ext cx="1965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Compare churn in contacted vs held-back customers each month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749039"/>
          <a:ext cx="1106424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548640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Responsibility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Output / KPI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Data and analytics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Run monthly scoring; monitor ROC-AUC and calibration by tenure group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Ranked list; AUC and calibration report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CRM and marketing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Send the nudge; keep the hold-out untouched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Contact rate; opt-out rate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Finance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Own margin, cost and fixed-cost inputs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Net benefit per wave; ROI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Arial"/>
                        </a:rPr>
                        <a:t>Legal and compliance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Consent, privacy and fairness review (ethnic not used)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Arial"/>
                        </a:rPr>
                        <a:t>Sign-off before launch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The business case is conditional: it pays only if the nudge saves at least 6.4% of would-be churners at $0.75 or less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Per 100,000 customers, annual (12 monthly waves), top 5% contacted. USD, margins, costs and save rates are ASSUMPTIONS to be replaced by Company A data; fixed cost $60,000/yr is a placeholder. Notebook section 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309358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50918"/>
                <a:gridCol w="573578"/>
                <a:gridCol w="573578"/>
                <a:gridCol w="788670"/>
                <a:gridCol w="788670"/>
                <a:gridCol w="932064"/>
                <a:gridCol w="5018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Save rate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Saved / yr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Gross benefit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Contact cost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Net after fixed cost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ROI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Conservative (0.86% churn, 30% margin, 6 mo, $1.00)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$6,931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$60,000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-$113,069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-94%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Base (0.99%, 40%, 12 mo, $0.75)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$42,246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$45,000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-$62,754</a:t>
                      </a:r>
                    </a:p>
                  </a:txBody>
                  <a:tcPr marL="54864" marR="54864" marT="22860" marB="22860" anchor="ctr">
                    <a:solidFill>
                      <a:srgbClr val="F2C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-60%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Upside (1.04%, 50%, 12 mo, $0.50)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$92,203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$30,000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$2,203</a:t>
                      </a:r>
                    </a:p>
                  </a:txBody>
                  <a:tcPr marL="54864" marR="54864" marT="22860" marB="22860" anchor="ctr">
                    <a:solidFill>
                      <a:srgbClr val="CF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A41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63093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Formula. </a:t>
            </a:r>
            <a:r>
              <a:rPr sz="1200" b="0">
                <a:solidFill>
                  <a:srgbClr val="1B2A41"/>
                </a:solidFill>
                <a:latin typeface="Arial"/>
              </a:rPr>
              <a:t>Contacted x would-be churners x save rate x value per save = gross benefit; minus contact cost and fixed cost.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Value per save </a:t>
            </a:r>
            <a:r>
              <a:rPr sz="1200" b="0">
                <a:solidFill>
                  <a:srgbClr val="1B2A41"/>
                </a:solidFill>
                <a:latin typeface="Arial"/>
              </a:rPr>
              <a:t>= average monthly revenue ($47) x margin x months retained = $224 in the base case.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Break-even save rate: </a:t>
            </a:r>
            <a:r>
              <a:rPr sz="1200" b="0">
                <a:solidFill>
                  <a:srgbClr val="1B2A41"/>
                </a:solidFill>
                <a:latin typeface="Arial"/>
              </a:rPr>
              <a:t>6.4% for a $0.75 nudge; 32% for a $20 credit accepted by 15% (so no blanket incentives).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Only the upside covers fixed cost </a:t>
            </a:r>
            <a:r>
              <a:rPr sz="1200" b="0">
                <a:solidFill>
                  <a:srgbClr val="1B2A41"/>
                </a:solidFill>
                <a:latin typeface="Arial"/>
              </a:rPr>
              <a:t>for a 100,000-customer book (break-even book about 96,459). The top-10% upside nets $38,925; its base case is negative.</a:t>
            </a:r>
          </a:p>
        </p:txBody>
      </p:sp>
      <p:pic>
        <p:nvPicPr>
          <p:cNvPr id="8" name="Picture 7" descr="fig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754880" cy="28272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4343400"/>
            <a:ext cx="475488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Biggest swing factors </a:t>
            </a:r>
            <a:r>
              <a:rPr sz="1200" b="0">
                <a:solidFill>
                  <a:srgbClr val="1B2A41"/>
                </a:solidFill>
                <a:latin typeface="Arial"/>
              </a:rPr>
              <a:t>(annual net variable benefit): save rate (swing about $49k), cost per contact ($30k), margin and months retained ($21k each).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Arial"/>
              </a:rPr>
              <a:t>Cheap contact is what makes the case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Roadmap: measure the save rate first, then scale only if the break-even test is passed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Timeline is a proposal. Sample size: 80% power, 5% two-sided test, churn probability in the top-5% slice 5.2% (notebook section 14.3).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148840" cy="7315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205740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DE6EE"/>
                </a:solidFill>
                <a:latin typeface="Arial"/>
              </a:rPr>
              <a:t>Weeks 0-4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Prepare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148840" cy="29260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359152"/>
            <a:ext cx="201168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Replace placeholder inputs with Company A's churn rate, margin, contact cost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Check when each column is recorded (leakage)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Re-calibrate model on Company A's real base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508760"/>
            <a:ext cx="2148840" cy="7315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27048"/>
            <a:ext cx="205740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DE6EE"/>
                </a:solidFill>
                <a:latin typeface="Arial"/>
              </a:rPr>
              <a:t>Weeks 4-8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286000"/>
            <a:ext cx="2148840" cy="29260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359152"/>
            <a:ext cx="201168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Monthly scoring job and hold-out rule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Compliance review: consent, opt-out, fairness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Pick pilot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508760"/>
            <a:ext cx="2148840" cy="7315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527048"/>
            <a:ext cx="205740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DE6EE"/>
                </a:solidFill>
                <a:latin typeface="Arial"/>
              </a:rPr>
              <a:t>Weeks 8-20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86000"/>
            <a:ext cx="2148840" cy="29260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359152"/>
            <a:ext cx="201168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At least 6,420 contacted and 6,420 held back per arm to detect a 20% relative drop in churn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Pool several monthly waves if the footprint is small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Smaller effects need more: 27,033 per arm for a 10% effect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Nudge only; no credits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508760"/>
            <a:ext cx="2148840" cy="73152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527048"/>
            <a:ext cx="205740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DE6EE"/>
                </a:solidFill>
                <a:latin typeface="Arial"/>
              </a:rPr>
              <a:t>Week 20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2286000"/>
            <a:ext cx="2148840" cy="29260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2359152"/>
            <a:ext cx="201168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Scale only if measured save rate is at least 6.4% at about $0.75 per contact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Otherwise stop and keep the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508760"/>
            <a:ext cx="2148840" cy="7315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527048"/>
            <a:ext cx="205740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DE6EE"/>
                </a:solidFill>
                <a:latin typeface="Arial"/>
              </a:rPr>
              <a:t>After gate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Scale and monitor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286000"/>
            <a:ext cx="2148840" cy="29260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2359152"/>
            <a:ext cx="201168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Roll out to more areas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Monthly AUC and calibration by tenure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200" b="0">
                <a:solidFill>
                  <a:srgbClr val="1B2A41"/>
                </a:solidFill>
                <a:latin typeface="Arial"/>
              </a:rPr>
              <a:t>Retrain on drift; test a small credit only after a positive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F7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22392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7B8A"/>
                </a:solidFill>
                <a:latin typeface="Arial"/>
              </a:rPr>
              <a:t>PoC success criteria: </a:t>
            </a:r>
            <a:r>
              <a:rPr sz="1200" b="0">
                <a:solidFill>
                  <a:srgbClr val="1B2A41"/>
                </a:solidFill>
                <a:latin typeface="Arial"/>
              </a:rPr>
              <a:t>(1) measured save rate at or above 6.4% with a confidence interval that excludes zero; (2) cost per contact at or below $0.75; (3) ROC-AUC of at least 0.65 and sound calibration on Company A's own data; (4) opt-out and complaint rates within limits set with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The main risks are an unknown save rate, a mismatched base rate and thin margins, and each has a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Source: Company A dataset (100,000 customers); author analysis in SunilMandloi.ipynb.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45354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4572000"/>
                <a:gridCol w="42976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Save rate unknown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The model measures risk, not who responds to an offer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Randomised hold-out; decision gate at break-even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Base-rate mismatch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File is 49.6% churn vs about 1% in the market [1-3]; precision overstated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Rescaled here; re-calibrate on Company A's real data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Data timing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No timestamps, so a column recorded after the outcome cannot be ruled out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Confirm recording dates; test on a time-based split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Thin economics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About 95% of contacts would have stayed; costs eat the benefit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Cheap channels only; stop rule; no blanket credits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Fairness and privacy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Demographic fields may act as proxies; customer contact needs consent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ethnic excluded; review income, marital; opt-out; compliance sign-off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Model drift and uneven quality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AUC is about 0.75 in year one but 0.65 for 13-24 months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Monthly monitoring by tenure group; retrain on drift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B2A41"/>
                          </a:solidFill>
                          <a:latin typeface="Arial"/>
                        </a:rPr>
                        <a:t>Assumed inputs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Margin, costs, currency (USD assumed) and fixed cost are placeholders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Finance replaces them before the decision gate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Decision requested: approve a capped measurement pilot in New York City, not a full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New York City Area = 11,098 of 100,000 customers (11.1%), churn 50.0% vs 49.6% overall; Company A's real New York subscriber count is needed to confirm the pilot is large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0" cy="46634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82296" cy="46634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822B"/>
                </a:solidFill>
                <a:latin typeface="Arial"/>
              </a:rPr>
              <a:t>We ask management to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B2A41"/>
                </a:solidFill>
                <a:latin typeface="Arial"/>
              </a:rPr>
              <a:t>1. Approve the pilot </a:t>
            </a:r>
            <a:r>
              <a:rPr sz="1400" b="0">
                <a:solidFill>
                  <a:srgbClr val="1B2A41"/>
                </a:solidFill>
                <a:latin typeface="Arial"/>
              </a:rPr>
              <a:t>in the New York City area, the largest segment and one that churns at the company average. Contact cost for the treated arm is about $4,815 (at 6,420 customers and $0.75 each).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B2A41"/>
                </a:solidFill>
                <a:latin typeface="Arial"/>
              </a:rPr>
              <a:t>2. Provide four inputs: </a:t>
            </a:r>
            <a:r>
              <a:rPr sz="1400" b="0">
                <a:solidFill>
                  <a:srgbClr val="1B2A41"/>
                </a:solidFill>
                <a:latin typeface="Arial"/>
              </a:rPr>
              <a:t>the true monthly churn rate, contribution margin, cost per contact, and New York subscriber count.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B2A41"/>
                </a:solidFill>
                <a:latin typeface="Arial"/>
              </a:rPr>
              <a:t>3. Commit to the rule: </a:t>
            </a:r>
            <a:r>
              <a:rPr sz="1400" b="0">
                <a:solidFill>
                  <a:srgbClr val="1B2A41"/>
                </a:solidFill>
                <a:latin typeface="Arial"/>
              </a:rPr>
              <a:t>scale only if the measured save rate reaches 6.4% at about $0.75 per contact; otherwise stop.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685"/>
                </a:solidFill>
                <a:latin typeface="Arial"/>
              </a:rPr>
              <a:t>A decision to stop is a valid and cheap outcome.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508760"/>
          <a:ext cx="5394960" cy="42245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246888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Measured save rate (treated vs held back)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at least 6.4%, interval above zero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Cost per contact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about $0.75 or less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Model ROC-AUC on Company A data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at least 0.65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Calibration (predicted vs actual churn)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close, checked by tenure group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Opt-out and complaint rates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limits set with compliance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Net benefit per wave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Arial"/>
                        </a:rPr>
                        <a:t>positive after contact cost</a:t>
                      </a:r>
                    </a:p>
                  </a:txBody>
                  <a:tcPr marL="54864" marR="54864" marT="22860" marB="22860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2A41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" cy="45720"/>
          </a:xfrm>
          <a:prstGeom prst="rect">
            <a:avLst/>
          </a:prstGeom>
          <a:solidFill>
            <a:srgbClr val="0F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85"/>
                </a:solidFill>
                <a:latin typeface="Arial"/>
              </a:rPr>
              <a:t>All external figures accessed October 2026. Churn definitions differ across carriers.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685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[1] T-Mobile US, Inc. (22 July 2026). T-Mobile Delivers Continued Strong Account Growth, Translating into Industry-Leading Service Revenue Growth Driven by Widening Differentiation (Q2 2026 results). Business Wire. Postpaid account churn 0.99% (Q2 2026), 1.04% (Q1 2026). https://www.businesswire.com/news/home/20260722580890/en/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[2] Customer Experience Dive (July 2026). Verizon Q2 2026 earnings call coverage: overall churn 0.92%. https://www.customerexperiencedive.com/news/verizon-fight-churn-cx-investments/826174/ ; Nasdaq (July 2026). Verizon Q2 earnings call highlights: consumer postpaid phone churn 0.84%. https://www.nasdaq.com/articles/verizon-communications-q2-earnings-call-highlights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[3] The Desk (July 2026). AT&amp;T improves wireless churn in Q2: postpaid phone churn 0.86%. https://thedesk.net/2026/07/att-q2-2026-earnings-report-fiber-buildout/ ; PhoneArena (July 2026). https://www.phonearena.com/news/at-t-adds-more-postpaid-phone-subscribers-during-q2_id182058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[4] Company A dataset: Client.csv and Record.csv, supplied with the GCI World 2026 Final Assignment (100,000 customers). Analysis: SunilMandloi.ipynb.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[5] Pedregosa, F. et al. (2011). Scikit-learn: Machine Learning in Python. Journal of Machine Learning Research, 12, 2825-2830.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[6] ChatGPT conversation used in preparing the assignment: https://chatgpt.com/share/6acccf90-6cd0-83ec-84bf-165da7064fe2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B2A41"/>
                </a:solidFill>
                <a:latin typeface="Arial"/>
              </a:rPr>
              <a:t>[7] Claude (Anthropic) assisted with the analysis code, notebook and slides; all reported figures are produced by the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